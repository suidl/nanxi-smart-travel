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dfcebf66764be4" /><Relationship Type="http://schemas.openxmlformats.org/officeDocument/2006/relationships/extended-properties" Target="/docProps/app.xml" Id="R383e0575181542ac" /><Relationship Type="http://schemas.openxmlformats.org/officeDocument/2006/relationships/officeDocument" Target="/ppt/presentation.xml" Id="R776cfa7c09be4d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af8f95c04349b5"/>
  </p:sldMasterIdLst>
  <p:notesMasterIdLst>
    <p:notesMasterId xmlns:r="http://schemas.openxmlformats.org/officeDocument/2006/relationships" r:id="R8a91692c7e9947a1"/>
  </p:notesMasterIdLst>
  <p:sldIdLst>
    <p:sldId xmlns:r="http://schemas.openxmlformats.org/officeDocument/2006/relationships" id="256" r:id="Rd507d56df6cb49b8"/>
    <p:sldId xmlns:r="http://schemas.openxmlformats.org/officeDocument/2006/relationships" id="257" r:id="Reab34b2deffd414b"/>
    <p:sldId xmlns:r="http://schemas.openxmlformats.org/officeDocument/2006/relationships" id="258" r:id="R7a1fdef06c2e42ab"/>
    <p:sldId xmlns:r="http://schemas.openxmlformats.org/officeDocument/2006/relationships" id="259" r:id="R78a04d4cc0294961"/>
    <p:sldId xmlns:r="http://schemas.openxmlformats.org/officeDocument/2006/relationships" id="260" r:id="Rca99aaf3b8214b0d"/>
    <p:sldId xmlns:r="http://schemas.openxmlformats.org/officeDocument/2006/relationships" id="261" r:id="R13a8a3f959794707"/>
    <p:sldId xmlns:r="http://schemas.openxmlformats.org/officeDocument/2006/relationships" id="262" r:id="R1b95832084814dd5"/>
    <p:sldId xmlns:r="http://schemas.openxmlformats.org/officeDocument/2006/relationships" id="263" r:id="R0a042075ee554c7d"/>
    <p:sldId xmlns:r="http://schemas.openxmlformats.org/officeDocument/2006/relationships" id="264" r:id="Rf9b0a4d148d94e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e726cfdcfc46fc" /><Relationship Type="http://schemas.openxmlformats.org/officeDocument/2006/relationships/slideMaster" Target="/ppt/slideMasters/slideMaster1.xml" Id="R66af8f95c04349b5" /><Relationship Type="http://schemas.openxmlformats.org/officeDocument/2006/relationships/notesMaster" Target="/ppt/notesMasters/notesMaster1.xml" Id="R8a91692c7e9947a1" /><Relationship Type="http://schemas.openxmlformats.org/officeDocument/2006/relationships/presProps" Target="/ppt/presProps.xml" Id="Rec7a16dcb9144722" /><Relationship Type="http://schemas.openxmlformats.org/officeDocument/2006/relationships/tableStyles" Target="/ppt/tableStyles.xml" Id="R803b80959f684bee" /><Relationship Type="http://schemas.openxmlformats.org/officeDocument/2006/relationships/slide" Target="/ppt/slides/slide1.xml" Id="Rd507d56df6cb49b8" /><Relationship Type="http://schemas.openxmlformats.org/officeDocument/2006/relationships/slide" Target="/ppt/slides/slide2.xml" Id="Reab34b2deffd414b" /><Relationship Type="http://schemas.openxmlformats.org/officeDocument/2006/relationships/slide" Target="/ppt/slides/slide3.xml" Id="R7a1fdef06c2e42ab" /><Relationship Type="http://schemas.openxmlformats.org/officeDocument/2006/relationships/slide" Target="/ppt/slides/slide4.xml" Id="R78a04d4cc0294961" /><Relationship Type="http://schemas.openxmlformats.org/officeDocument/2006/relationships/slide" Target="/ppt/slides/slide5.xml" Id="Rca99aaf3b8214b0d" /><Relationship Type="http://schemas.openxmlformats.org/officeDocument/2006/relationships/slide" Target="/ppt/slides/slide6.xml" Id="R13a8a3f959794707" /><Relationship Type="http://schemas.openxmlformats.org/officeDocument/2006/relationships/slide" Target="/ppt/slides/slide7.xml" Id="R1b95832084814dd5" /><Relationship Type="http://schemas.openxmlformats.org/officeDocument/2006/relationships/slide" Target="/ppt/slides/slide8.xml" Id="R0a042075ee554c7d" /><Relationship Type="http://schemas.openxmlformats.org/officeDocument/2006/relationships/slide" Target="/ppt/slides/slide9.xml" Id="Rf9b0a4d148d94e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51b54384734e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619c8db96842fe" /><Relationship Type="http://schemas.openxmlformats.org/officeDocument/2006/relationships/notesMaster" Target="/ppt/notesMasters/notesMaster1.xml" Id="R0fa92767164447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548c3fe4cd4e93" /><Relationship Type="http://schemas.openxmlformats.org/officeDocument/2006/relationships/notesMaster" Target="/ppt/notesMasters/notesMaster1.xml" Id="R161b6e37265441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6c13fbc03e45d6" /><Relationship Type="http://schemas.openxmlformats.org/officeDocument/2006/relationships/notesMaster" Target="/ppt/notesMasters/notesMaster1.xml" Id="Rd1187bd7f72546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ee7738def440b3" /><Relationship Type="http://schemas.openxmlformats.org/officeDocument/2006/relationships/notesMaster" Target="/ppt/notesMasters/notesMaster1.xml" Id="Rf62cfc2b79d14c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a68911e044487e" /><Relationship Type="http://schemas.openxmlformats.org/officeDocument/2006/relationships/notesMaster" Target="/ppt/notesMasters/notesMaster1.xml" Id="Rb072388901114b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c249d8162e4cbb" /><Relationship Type="http://schemas.openxmlformats.org/officeDocument/2006/relationships/notesMaster" Target="/ppt/notesMasters/notesMaster1.xml" Id="R509f82d2379f4b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9e0f2545d140d3" /><Relationship Type="http://schemas.openxmlformats.org/officeDocument/2006/relationships/notesMaster" Target="/ppt/notesMasters/notesMaster1.xml" Id="Rfe2bf8ff8fe44c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0ff66a398d4fed" /><Relationship Type="http://schemas.openxmlformats.org/officeDocument/2006/relationships/notesMaster" Target="/ppt/notesMasters/notesMaster1.xml" Id="R3cd86ffd89dc4e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8ae1abbca849ae" /><Relationship Type="http://schemas.openxmlformats.org/officeDocument/2006/relationships/notesMaster" Target="/ppt/notesMasters/notesMaster1.xml" Id="Rfe1ef00bd53343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开场：家庭游客面对的不只是选景点，而是多条件下持续做决定。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大赛赛道说明：https://www.kdocs.cn/l/crAjwHTDW2VE</a:t>
            </a:r>
          </a:p>
          <a:p xmlns:a="http://schemas.openxmlformats.org/drawingml/2006/main">
            <a:r>
              <a:t>产品截图：本项目 artifacts/ui/01-builder.png（演示版界面）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这一页强调需求假设，不宣称已经做了正式市场调研。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大赛赛道说明文旅智能导览方向：https://www.kdocs.cn/l/crAjwHTDW2VE</a:t>
            </a:r>
          </a:p>
          <a:p xmlns:a="http://schemas.openxmlformats.org/drawingml/2006/main">
            <a:r>
              <a:t>产品假设：本项目参赛申报书第二节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模型负责需求解析；预算、路线、检查由工具和规则完成。工具轨迹中的展示耗时尚非生产级真实性能计量。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项目源码：src/agent/planner.ts；netlify/functions/plan.ts；src/tools/</a:t>
            </a:r>
          </a:p>
          <a:p xmlns:a="http://schemas.openxmlformats.org/drawingml/2006/main">
            <a:r>
              <a:t>项目在线版：https://naxi-travel-ai.netlify.app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指向路线、预算和右侧工具轨迹。注意此截图创建于 AI Gateway 开启前，界面标记为规则演示解析，线上实时演示应以当前页面为准。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产品截图：本项目 artifacts/ui/02-cockpit.png</a:t>
            </a:r>
          </a:p>
          <a:p xmlns:a="http://schemas.openxmlformats.org/drawingml/2006/main">
            <a:r>
              <a:t>项目在线版：https://naxi-travel-ai.netlify.app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点击“情况有变，重新规划”，触发午后阵雨。强调已完成节点不可改写，这是核心创新。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产品截图：本项目 artifacts/ui/03-rain-replan.png</a:t>
            </a:r>
          </a:p>
          <a:p xmlns:a="http://schemas.openxmlformats.org/drawingml/2006/main">
            <a:r>
              <a:t>项目源码：src/agent/replanner.ts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不把现有坐标估算说成实时地图导航，也不宣称已接入支付或预订。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项目源码：src/agent/；src/tools/；src/services/export.ts；netlify/functions/</a:t>
            </a:r>
          </a:p>
          <a:p xmlns:a="http://schemas.openxmlformats.org/drawingml/2006/main">
            <a:r>
              <a:t>项目说明：README.md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所有数量为 2026-09-12 开发记录，提交前应重新运行验证。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项目源码：src/data/pois.ts；tests/；README.md</a:t>
            </a:r>
          </a:p>
          <a:p xmlns:a="http://schemas.openxmlformats.org/drawingml/2006/main">
            <a:r>
              <a:t>项目验证记录：docs/demo-checklist.md</a:t>
            </a:r>
          </a:p>
          <a:p xmlns:a="http://schemas.openxmlformats.org/drawingml/2006/main">
            <a:r>
              <a:t>在线体验：https://naxi-travel-ai.netlify.app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OPC 轻量路径：公开资料起步，个人主创与 AI 辅助研发，先以真实试点验证再谈收费。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项目商业规划：参赛申报书第八至九节</a:t>
            </a:r>
          </a:p>
          <a:p xmlns:a="http://schemas.openxmlformats.org/drawingml/2006/main">
            <a:r>
              <a:t>大赛 OPC 与永嘉特色产业方向：https://www.kdocs.cn/l/crAjwHTDW2VE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结束时打开网址交给评委体验。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在线作品：https://naxi-travel-ai.netlify.app</a:t>
            </a:r>
          </a:p>
          <a:p xmlns:a="http://schemas.openxmlformats.org/drawingml/2006/main">
            <a:r>
              <a:t>大赛赛道说明：https://www.kdocs.cn/l/crAjwHTDW2VE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81d9754c6e41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d2f6fe072043fa" /><Relationship Type="http://schemas.openxmlformats.org/officeDocument/2006/relationships/slideLayout" Target="/ppt/slideLayouts/slideLayout1.xml" Id="Rc744bae755704b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44bae755704b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f33151cbd4b27" /><Relationship Type="http://schemas.openxmlformats.org/officeDocument/2006/relationships/image" Target="/ppt/media/image.png" Id="R94abae56846e4830" /><Relationship Type="http://schemas.openxmlformats.org/officeDocument/2006/relationships/notesSlide" Target="/ppt/notesSlides/notesSlide1.xml" Id="Rea9994ff619b42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725d514774d45" /><Relationship Type="http://schemas.openxmlformats.org/officeDocument/2006/relationships/notesSlide" Target="/ppt/notesSlides/notesSlide2.xml" Id="Rbf531ed9504c45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c8a289a344dde" /><Relationship Type="http://schemas.openxmlformats.org/officeDocument/2006/relationships/notesSlide" Target="/ppt/notesSlides/notesSlide3.xml" Id="R7ca18226910a48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76691d5d44319" /><Relationship Type="http://schemas.openxmlformats.org/officeDocument/2006/relationships/image" Target="/ppt/media/image2.png" Id="R8a90b218f86641fc" /><Relationship Type="http://schemas.openxmlformats.org/officeDocument/2006/relationships/notesSlide" Target="/ppt/notesSlides/notesSlide4.xml" Id="Refc6ef12437742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432125b534afb" /><Relationship Type="http://schemas.openxmlformats.org/officeDocument/2006/relationships/image" Target="/ppt/media/image3.png" Id="Rabc5c6c28c3b40ab" /><Relationship Type="http://schemas.openxmlformats.org/officeDocument/2006/relationships/notesSlide" Target="/ppt/notesSlides/notesSlide5.xml" Id="Rf7c7578c3e5c41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79daec3d34612" /><Relationship Type="http://schemas.openxmlformats.org/officeDocument/2006/relationships/notesSlide" Target="/ppt/notesSlides/notesSlide6.xml" Id="R2d6d5d92a63246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2ae008e9e48be" /><Relationship Type="http://schemas.openxmlformats.org/officeDocument/2006/relationships/notesSlide" Target="/ppt/notesSlides/notesSlide7.xml" Id="R4b02c8f4c19446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8669ec6c448f8" /><Relationship Type="http://schemas.openxmlformats.org/officeDocument/2006/relationships/notesSlide" Target="/ppt/notesSlides/notesSlide8.xml" Id="R4bf80d04671f4e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34203791e4130" /><Relationship Type="http://schemas.openxmlformats.org/officeDocument/2006/relationships/notesSlide" Target="/ppt/notesSlides/notesSlide9.xml" Id="Racb4acf2d34941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赛事">
            <a:extLst xmlns:a="http://schemas.openxmlformats.org/drawingml/2006/main">
              <a:ext uri="{FF2B5EF4-FFF2-40B4-BE49-F238E27FC236}">
                <a16:creationId xmlns:a16="http://schemas.microsoft.com/office/drawing/2014/main" id="{A84EC60D-96AC-4A1A-A607-DD20D099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2026 首届“永嘉农商杯”AI＋OPC 创新创业大赛</a:t>
            </a:r>
          </a:p>
        </p:txBody>
      </p:sp>
      <p:sp>
        <p:nvSpPr>
          <p:cNvPr id="2" name="主标题">
            <a:extLst xmlns:a="http://schemas.openxmlformats.org/drawingml/2006/main">
              <a:ext uri="{FF2B5EF4-FFF2-40B4-BE49-F238E27FC236}">
                <a16:creationId xmlns:a16="http://schemas.microsoft.com/office/drawing/2014/main" id="{14D93890-FC8B-4035-B073-B40038AA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5238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楠溪智游</a:t>
            </a:r>
          </a:p>
        </p:txBody>
      </p:sp>
      <p:sp>
        <p:nvSpPr>
          <p:cNvPr id="3" name="副标题">
            <a:extLst xmlns:a="http://schemas.openxmlformats.org/drawingml/2006/main">
              <a:ext uri="{FF2B5EF4-FFF2-40B4-BE49-F238E27FC236}">
                <a16:creationId xmlns:a16="http://schemas.microsoft.com/office/drawing/2014/main" id="{007B36D8-6895-415C-891F-9DF8EFCC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楠溪江动态行程</a:t>
            </a:r>
          </a:p>
          <a:p xmlns:a="http://schemas.openxmlformats.org/drawingml/2006/main">
            <a:pPr algn="l">
              <a:defRPr sz="345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决策智能体</a:t>
            </a:r>
          </a:p>
        </p:txBody>
      </p:sp>
      <p:sp>
        <p:nvSpPr>
          <p:cNvPr id="4" name="一句话">
            <a:extLst xmlns:a="http://schemas.openxmlformats.org/drawingml/2006/main">
              <a:ext uri="{FF2B5EF4-FFF2-40B4-BE49-F238E27FC236}">
                <a16:creationId xmlns:a16="http://schemas.microsoft.com/office/drawing/2014/main" id="{6F2EADAA-1EA9-41F1-BD96-3B860683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14875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让一条行程能规划、能检查，也能随变化继续走下去。</a:t>
            </a:r>
          </a:p>
        </p:txBody>
      </p:sp>
      <p:sp>
        <p:nvSpPr>
          <p:cNvPr id="5" name="赛道">
            <a:extLst xmlns:a="http://schemas.openxmlformats.org/drawingml/2006/main">
              <a:ext uri="{FF2B5EF4-FFF2-40B4-BE49-F238E27FC236}">
                <a16:creationId xmlns:a16="http://schemas.microsoft.com/office/drawing/2014/main" id="{73525D36-60BB-4213-B85B-178DF687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483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赛道一 · AI Agent × 永嘉特色产业 · 文旅智能导览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bae56846e4830"/>
          <a:srcRect xmlns:a="http://schemas.openxmlformats.org/drawingml/2006/main" l="9852" t="0" r="98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1076325"/>
            <a:ext cx="5286375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4570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页眉">
            <a:extLst xmlns:a="http://schemas.openxmlformats.org/drawingml/2006/main">
              <a:ext uri="{FF2B5EF4-FFF2-40B4-BE49-F238E27FC236}">
                <a16:creationId xmlns:a16="http://schemas.microsoft.com/office/drawing/2014/main" id="{622EFB84-424E-43FA-B679-97DE8B5D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楠溪智游  /  赛道一 · 命题二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E43EDA27-20A6-4293-A0C8-FA11FA72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标题">
            <a:extLst xmlns:a="http://schemas.openxmlformats.org/drawingml/2006/main">
              <a:ext uri="{FF2B5EF4-FFF2-40B4-BE49-F238E27FC236}">
                <a16:creationId xmlns:a16="http://schemas.microsoft.com/office/drawing/2014/main" id="{14C3EB48-16F7-47A2-B5ED-6A445DB8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问题不是缺少景点，而是缺少可执行的决策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F856DD45-7CB8-459C-B7F0-9F2A936E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大观点">
            <a:extLst xmlns:a="http://schemas.openxmlformats.org/drawingml/2006/main">
              <a:ext uri="{FF2B5EF4-FFF2-40B4-BE49-F238E27FC236}">
                <a16:creationId xmlns:a16="http://schemas.microsoft.com/office/drawing/2014/main" id="{E9BDD1F5-65DA-40ED-895C-F1EB2DAF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10287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老人儿童体力、天气、路程、预算，必须一起算。</a:t>
            </a:r>
          </a:p>
        </p:txBody>
      </p:sp>
      <p:sp>
        <p:nvSpPr>
          <p:cNvPr id="6" name="问题一">
            <a:extLst xmlns:a="http://schemas.openxmlformats.org/drawingml/2006/main">
              <a:ext uri="{FF2B5EF4-FFF2-40B4-BE49-F238E27FC236}">
                <a16:creationId xmlns:a16="http://schemas.microsoft.com/office/drawing/2014/main" id="{ED0BF594-78FF-4442-A3CB-1F687E69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出发前：信息分散，路线容易折返。</a:t>
            </a:r>
          </a:p>
        </p:txBody>
      </p:sp>
      <p:sp>
        <p:nvSpPr>
          <p:cNvPr id="7" name="问题二">
            <a:extLst xmlns:a="http://schemas.openxmlformats.org/drawingml/2006/main">
              <a:ext uri="{FF2B5EF4-FFF2-40B4-BE49-F238E27FC236}">
                <a16:creationId xmlns:a16="http://schemas.microsoft.com/office/drawing/2014/main" id="{27054D78-F8D0-4373-865E-CD51D7E3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出发后：下雨或闭园，整条计划被打乱。</a:t>
            </a:r>
          </a:p>
        </p:txBody>
      </p:sp>
      <p:sp>
        <p:nvSpPr>
          <p:cNvPr id="8" name="问题性质">
            <a:extLst xmlns:a="http://schemas.openxmlformats.org/drawingml/2006/main">
              <a:ext uri="{FF2B5EF4-FFF2-40B4-BE49-F238E27FC236}">
                <a16:creationId xmlns:a16="http://schemas.microsoft.com/office/drawing/2014/main" id="{A192EEF5-D8DE-4B06-A641-20D78810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目标用户与痛点为产品假设，等待真实游客试点验证。</a:t>
            </a:r>
          </a:p>
        </p:txBody>
      </p:sp>
    </p:spTree>
    <p:extLst>
      <p:ext uri="{BB962C8B-B14F-4D97-AF65-F5344CB8AC3E}">
        <p14:creationId xmlns:p14="http://schemas.microsoft.com/office/powerpoint/2010/main" val="4125325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页眉">
            <a:extLst xmlns:a="http://schemas.openxmlformats.org/drawingml/2006/main">
              <a:ext uri="{FF2B5EF4-FFF2-40B4-BE49-F238E27FC236}">
                <a16:creationId xmlns:a16="http://schemas.microsoft.com/office/drawing/2014/main" id="{D086C968-D3D3-490F-B93A-BBE24DB0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楠溪智游  /  赛道一 · 命题二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D8E3B10A-2D2B-444C-9962-B81F0776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标题">
            <a:extLst xmlns:a="http://schemas.openxmlformats.org/drawingml/2006/main">
              <a:ext uri="{FF2B5EF4-FFF2-40B4-BE49-F238E27FC236}">
                <a16:creationId xmlns:a16="http://schemas.microsoft.com/office/drawing/2014/main" id="{5D109099-8CF3-402F-A35D-FE134380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Agent 不写一段建议，而是完成六步工具闭环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5AB834CC-E97B-42C7-B597-C020FCA5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序号0">
            <a:extLst xmlns:a="http://schemas.openxmlformats.org/drawingml/2006/main">
              <a:ext uri="{FF2B5EF4-FFF2-40B4-BE49-F238E27FC236}">
                <a16:creationId xmlns:a16="http://schemas.microsoft.com/office/drawing/2014/main" id="{C2DE9203-4E7E-4806-8359-1775EADF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71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步骤0">
            <a:extLst xmlns:a="http://schemas.openxmlformats.org/drawingml/2006/main">
              <a:ext uri="{FF2B5EF4-FFF2-40B4-BE49-F238E27FC236}">
                <a16:creationId xmlns:a16="http://schemas.microsoft.com/office/drawing/2014/main" id="{2BD58958-D2AF-46C5-AD49-E4FCBB93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907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理解约束</a:t>
            </a:r>
          </a:p>
        </p:txBody>
      </p:sp>
      <p:sp>
        <p:nvSpPr>
          <p:cNvPr id="7" name="分隔线">
            <a:extLst xmlns:a="http://schemas.openxmlformats.org/drawingml/2006/main">
              <a:ext uri="{FF2B5EF4-FFF2-40B4-BE49-F238E27FC236}">
                <a16:creationId xmlns:a16="http://schemas.microsoft.com/office/drawing/2014/main" id="{03CC0B6B-F3CF-4B4B-9209-3098A82C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说明0">
            <a:extLst xmlns:a="http://schemas.openxmlformats.org/drawingml/2006/main">
              <a:ext uri="{FF2B5EF4-FFF2-40B4-BE49-F238E27FC236}">
                <a16:creationId xmlns:a16="http://schemas.microsoft.com/office/drawing/2014/main" id="{88F7EDFC-823C-494F-A855-91EFB63A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47975"/>
            <a:ext cx="328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AI 解析偏好与步行强度</a:t>
            </a:r>
          </a:p>
        </p:txBody>
      </p:sp>
      <p:sp>
        <p:nvSpPr>
          <p:cNvPr id="9" name="序号1">
            <a:extLst xmlns:a="http://schemas.openxmlformats.org/drawingml/2006/main">
              <a:ext uri="{FF2B5EF4-FFF2-40B4-BE49-F238E27FC236}">
                <a16:creationId xmlns:a16="http://schemas.microsoft.com/office/drawing/2014/main" id="{D948FB6B-FA34-41A3-B92B-DE5BBCC3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90750"/>
            <a:ext cx="71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步骤1">
            <a:extLst xmlns:a="http://schemas.openxmlformats.org/drawingml/2006/main">
              <a:ext uri="{FF2B5EF4-FFF2-40B4-BE49-F238E27FC236}">
                <a16:creationId xmlns:a16="http://schemas.microsoft.com/office/drawing/2014/main" id="{D70C7D7A-11DF-4F9E-ABE9-49344C64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1907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查询天气</a:t>
            </a:r>
          </a:p>
        </p:txBody>
      </p:sp>
      <p:sp>
        <p:nvSpPr>
          <p:cNvPr id="11" name="分隔线">
            <a:extLst xmlns:a="http://schemas.openxmlformats.org/drawingml/2006/main">
              <a:ext uri="{FF2B5EF4-FFF2-40B4-BE49-F238E27FC236}">
                <a16:creationId xmlns:a16="http://schemas.microsoft.com/office/drawing/2014/main" id="{BBECB6CD-67BA-44D3-B3D3-2FD69C4B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2415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说明1">
            <a:extLst xmlns:a="http://schemas.openxmlformats.org/drawingml/2006/main">
              <a:ext uri="{FF2B5EF4-FFF2-40B4-BE49-F238E27FC236}">
                <a16:creationId xmlns:a16="http://schemas.microsoft.com/office/drawing/2014/main" id="{07E9BD0F-5814-416A-86A2-616C350C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47975"/>
            <a:ext cx="328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实时天气；失败时明示回退</a:t>
            </a:r>
          </a:p>
        </p:txBody>
      </p:sp>
      <p:sp>
        <p:nvSpPr>
          <p:cNvPr id="13" name="序号2">
            <a:extLst xmlns:a="http://schemas.openxmlformats.org/drawingml/2006/main">
              <a:ext uri="{FF2B5EF4-FFF2-40B4-BE49-F238E27FC236}">
                <a16:creationId xmlns:a16="http://schemas.microsoft.com/office/drawing/2014/main" id="{E585E955-6944-46EB-8AC8-78253674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90750"/>
            <a:ext cx="71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步骤2">
            <a:extLst xmlns:a="http://schemas.openxmlformats.org/drawingml/2006/main">
              <a:ext uri="{FF2B5EF4-FFF2-40B4-BE49-F238E27FC236}">
                <a16:creationId xmlns:a16="http://schemas.microsoft.com/office/drawing/2014/main" id="{D5C0D73B-DE50-4C0D-8406-4451942E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1907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筛选景点</a:t>
            </a:r>
          </a:p>
        </p:txBody>
      </p:sp>
      <p:sp>
        <p:nvSpPr>
          <p:cNvPr id="15" name="分隔线">
            <a:extLst xmlns:a="http://schemas.openxmlformats.org/drawingml/2006/main">
              <a:ext uri="{FF2B5EF4-FFF2-40B4-BE49-F238E27FC236}">
                <a16:creationId xmlns:a16="http://schemas.microsoft.com/office/drawing/2014/main" id="{4901DEA8-AB48-4DA4-80D3-A6B24E9F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说明2">
            <a:extLst xmlns:a="http://schemas.openxmlformats.org/drawingml/2006/main">
              <a:ext uri="{FF2B5EF4-FFF2-40B4-BE49-F238E27FC236}">
                <a16:creationId xmlns:a16="http://schemas.microsoft.com/office/drawing/2014/main" id="{BB3C0E5E-2796-4063-A746-B4FA9A50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47975"/>
            <a:ext cx="328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永嘉点位库和适宜性过滤</a:t>
            </a:r>
          </a:p>
        </p:txBody>
      </p:sp>
      <p:sp>
        <p:nvSpPr>
          <p:cNvPr id="17" name="序号3">
            <a:extLst xmlns:a="http://schemas.openxmlformats.org/drawingml/2006/main">
              <a:ext uri="{FF2B5EF4-FFF2-40B4-BE49-F238E27FC236}">
                <a16:creationId xmlns:a16="http://schemas.microsoft.com/office/drawing/2014/main" id="{8903B123-4E0A-408E-A6D0-8EC1C478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71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步骤3">
            <a:extLst xmlns:a="http://schemas.openxmlformats.org/drawingml/2006/main">
              <a:ext uri="{FF2B5EF4-FFF2-40B4-BE49-F238E27FC236}">
                <a16:creationId xmlns:a16="http://schemas.microsoft.com/office/drawing/2014/main" id="{608893FB-7033-4638-8616-DB5D4E0A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估算路线</a:t>
            </a:r>
          </a:p>
        </p:txBody>
      </p:sp>
      <p:sp>
        <p:nvSpPr>
          <p:cNvPr id="19" name="分隔线">
            <a:extLst xmlns:a="http://schemas.openxmlformats.org/drawingml/2006/main">
              <a:ext uri="{FF2B5EF4-FFF2-40B4-BE49-F238E27FC236}">
                <a16:creationId xmlns:a16="http://schemas.microsoft.com/office/drawing/2014/main" id="{710B249C-8362-485B-8B3B-0055D453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910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说明3">
            <a:extLst xmlns:a="http://schemas.openxmlformats.org/drawingml/2006/main">
              <a:ext uri="{FF2B5EF4-FFF2-40B4-BE49-F238E27FC236}">
                <a16:creationId xmlns:a16="http://schemas.microsoft.com/office/drawing/2014/main" id="{F842DBC4-46BF-41D6-90CB-13355D68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14850"/>
            <a:ext cx="328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按坐标估算顺序与距离</a:t>
            </a:r>
          </a:p>
        </p:txBody>
      </p:sp>
      <p:sp>
        <p:nvSpPr>
          <p:cNvPr id="21" name="序号4">
            <a:extLst xmlns:a="http://schemas.openxmlformats.org/drawingml/2006/main">
              <a:ext uri="{FF2B5EF4-FFF2-40B4-BE49-F238E27FC236}">
                <a16:creationId xmlns:a16="http://schemas.microsoft.com/office/drawing/2014/main" id="{6E2E2F52-7AB1-4EA0-98F1-96EAE0C5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57625"/>
            <a:ext cx="71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步骤4">
            <a:extLst xmlns:a="http://schemas.openxmlformats.org/drawingml/2006/main">
              <a:ext uri="{FF2B5EF4-FFF2-40B4-BE49-F238E27FC236}">
                <a16:creationId xmlns:a16="http://schemas.microsoft.com/office/drawing/2014/main" id="{C7777F91-DA13-434B-BE16-6620BE76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8576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核算预算</a:t>
            </a:r>
          </a:p>
        </p:txBody>
      </p:sp>
      <p:sp>
        <p:nvSpPr>
          <p:cNvPr id="23" name="分隔线">
            <a:extLst xmlns:a="http://schemas.openxmlformats.org/drawingml/2006/main">
              <a:ext uri="{FF2B5EF4-FFF2-40B4-BE49-F238E27FC236}">
                <a16:creationId xmlns:a16="http://schemas.microsoft.com/office/drawing/2014/main" id="{4F3FD32F-68FF-4B88-A61A-9E60DE80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910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说明4">
            <a:extLst xmlns:a="http://schemas.openxmlformats.org/drawingml/2006/main">
              <a:ext uri="{FF2B5EF4-FFF2-40B4-BE49-F238E27FC236}">
                <a16:creationId xmlns:a16="http://schemas.microsoft.com/office/drawing/2014/main" id="{3926CCFE-C0D3-4833-9B36-E351BA12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14850"/>
            <a:ext cx="328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按同行人和节点费用计算</a:t>
            </a:r>
          </a:p>
        </p:txBody>
      </p:sp>
      <p:sp>
        <p:nvSpPr>
          <p:cNvPr id="25" name="序号5">
            <a:extLst xmlns:a="http://schemas.openxmlformats.org/drawingml/2006/main">
              <a:ext uri="{FF2B5EF4-FFF2-40B4-BE49-F238E27FC236}">
                <a16:creationId xmlns:a16="http://schemas.microsoft.com/office/drawing/2014/main" id="{DB49A646-085F-454F-8534-BFC4EAE6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57625"/>
            <a:ext cx="71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6" name="步骤5">
            <a:extLst xmlns:a="http://schemas.openxmlformats.org/drawingml/2006/main">
              <a:ext uri="{FF2B5EF4-FFF2-40B4-BE49-F238E27FC236}">
                <a16:creationId xmlns:a16="http://schemas.microsoft.com/office/drawing/2014/main" id="{031FA4F4-2509-4E2C-9ABA-1FCF6C16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8576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检查风险</a:t>
            </a:r>
          </a:p>
        </p:txBody>
      </p:sp>
      <p:sp>
        <p:nvSpPr>
          <p:cNvPr id="27" name="分隔线">
            <a:extLst xmlns:a="http://schemas.openxmlformats.org/drawingml/2006/main">
              <a:ext uri="{FF2B5EF4-FFF2-40B4-BE49-F238E27FC236}">
                <a16:creationId xmlns:a16="http://schemas.microsoft.com/office/drawing/2014/main" id="{A4EC1971-E709-47E7-A555-2D123D1C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910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说明5">
            <a:extLst xmlns:a="http://schemas.openxmlformats.org/drawingml/2006/main">
              <a:ext uri="{FF2B5EF4-FFF2-40B4-BE49-F238E27FC236}">
                <a16:creationId xmlns:a16="http://schemas.microsoft.com/office/drawing/2014/main" id="{1209EE84-FA7F-4C23-B849-C4C8B29D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14850"/>
            <a:ext cx="328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开放、天气、体力与预算</a:t>
            </a:r>
          </a:p>
        </p:txBody>
      </p:sp>
    </p:spTree>
    <p:extLst>
      <p:ext uri="{BB962C8B-B14F-4D97-AF65-F5344CB8AC3E}">
        <p14:creationId xmlns:p14="http://schemas.microsoft.com/office/powerpoint/2010/main" val="211884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页眉">
            <a:extLst xmlns:a="http://schemas.openxmlformats.org/drawingml/2006/main">
              <a:ext uri="{FF2B5EF4-FFF2-40B4-BE49-F238E27FC236}">
                <a16:creationId xmlns:a16="http://schemas.microsoft.com/office/drawing/2014/main" id="{23A2E5AF-5993-4264-BE9E-45E299D4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楠溪智游  /  赛道一 · 命题二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536C2CBF-BCB0-422F-9B77-1FCB0DC6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标题">
            <a:extLst xmlns:a="http://schemas.openxmlformats.org/drawingml/2006/main">
              <a:ext uri="{FF2B5EF4-FFF2-40B4-BE49-F238E27FC236}">
                <a16:creationId xmlns:a16="http://schemas.microsoft.com/office/drawing/2014/main" id="{7262C868-57CF-44F4-98EB-203B79AB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结果集中呈现：路线、时间、预算、风险与执行轨迹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D009A28E-4743-4348-A8B1-2AF76995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0b218f86641fc"/>
          <a:stretch xmlns:a="http://schemas.openxmlformats.org/drawingml/2006/main"/>
        </p:blipFill>
        <p:spPr>
          <a:xfrm xmlns:a="http://schemas.openxmlformats.org/drawingml/2006/main">
            <a:off x="1869741" y="1952625"/>
            <a:ext cx="5356893" cy="4333875"/>
          </a:xfrm>
          <a:prstGeom xmlns:a="http://schemas.openxmlformats.org/drawingml/2006/main" prst="rect">
            <a:avLst/>
          </a:prstGeom>
        </p:spPr>
      </p:pic>
      <p:sp>
        <p:nvSpPr>
          <p:cNvPr id="6" name="分隔线">
            <a:extLst xmlns:a="http://schemas.openxmlformats.org/drawingml/2006/main">
              <a:ext uri="{FF2B5EF4-FFF2-40B4-BE49-F238E27FC236}">
                <a16:creationId xmlns:a16="http://schemas.microsoft.com/office/drawing/2014/main" id="{5AE344E0-C0FE-4E60-97EC-B625C713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050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驾驶舱说明">
            <a:extLst xmlns:a="http://schemas.openxmlformats.org/drawingml/2006/main">
              <a:ext uri="{FF2B5EF4-FFF2-40B4-BE49-F238E27FC236}">
                <a16:creationId xmlns:a16="http://schemas.microsoft.com/office/drawing/2014/main" id="{D8290A42-0ACA-45E6-90C8-BF6DD686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1907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一屏可核查</a:t>
            </a:r>
          </a:p>
        </p:txBody>
      </p:sp>
      <p:sp>
        <p:nvSpPr>
          <p:cNvPr id="8" name="可见内容">
            <a:extLst xmlns:a="http://schemas.openxmlformats.org/drawingml/2006/main">
              <a:ext uri="{FF2B5EF4-FFF2-40B4-BE49-F238E27FC236}">
                <a16:creationId xmlns:a16="http://schemas.microsoft.com/office/drawing/2014/main" id="{1BC864AC-9C40-4E5F-89B8-AAF5776D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57500"/>
            <a:ext cx="24765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逐站时间轴</a:t>
            </a:r>
          </a:p>
          <a:p xmlns:a="http://schemas.openxmlformats.org/drawingml/2006/main">
            <a:pPr algn="l">
              <a:defRPr sz="17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路线示意</a:t>
            </a:r>
          </a:p>
          <a:p xmlns:a="http://schemas.openxmlformats.org/drawingml/2006/main">
            <a:pPr algn="l">
              <a:defRPr sz="17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预算拆分</a:t>
            </a:r>
          </a:p>
          <a:p xmlns:a="http://schemas.openxmlformats.org/drawingml/2006/main">
            <a:pPr algn="l">
              <a:defRPr sz="17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Agent 工具轨迹</a:t>
            </a:r>
          </a:p>
        </p:txBody>
      </p:sp>
      <p:sp>
        <p:nvSpPr>
          <p:cNvPr id="9" name="截图口径">
            <a:extLst xmlns:a="http://schemas.openxmlformats.org/drawingml/2006/main">
              <a:ext uri="{FF2B5EF4-FFF2-40B4-BE49-F238E27FC236}">
                <a16:creationId xmlns:a16="http://schemas.microsoft.com/office/drawing/2014/main" id="{63BECE10-4DA5-4EE9-A8EC-2CBF10B2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33400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截图为规则演示模式；线上版已接入 AI 约束解析。</a:t>
            </a:r>
          </a:p>
        </p:txBody>
      </p:sp>
    </p:spTree>
    <p:extLst>
      <p:ext uri="{BB962C8B-B14F-4D97-AF65-F5344CB8AC3E}">
        <p14:creationId xmlns:p14="http://schemas.microsoft.com/office/powerpoint/2010/main" val="14043437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页眉">
            <a:extLst xmlns:a="http://schemas.openxmlformats.org/drawingml/2006/main">
              <a:ext uri="{FF2B5EF4-FFF2-40B4-BE49-F238E27FC236}">
                <a16:creationId xmlns:a16="http://schemas.microsoft.com/office/drawing/2014/main" id="{20BF0DFB-8544-484D-AE05-87E3D115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楠溪智游  /  赛道一 · 命题二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930DE9CA-05DF-422C-BF04-64CE665E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标题">
            <a:extLst xmlns:a="http://schemas.openxmlformats.org/drawingml/2006/main">
              <a:ext uri="{FF2B5EF4-FFF2-40B4-BE49-F238E27FC236}">
                <a16:creationId xmlns:a16="http://schemas.microsoft.com/office/drawing/2014/main" id="{527A5052-1929-4899-A63F-7E1CDFC6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途中下雨后，只修改还没发生的行程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7536E1EC-86D7-42C7-AC5C-A814336A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原则">
            <a:extLst xmlns:a="http://schemas.openxmlformats.org/drawingml/2006/main">
              <a:ext uri="{FF2B5EF4-FFF2-40B4-BE49-F238E27FC236}">
                <a16:creationId xmlns:a16="http://schemas.microsoft.com/office/drawing/2014/main" id="{EE8CC1FA-D96B-41C3-8158-2F6AE00C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已完成节点锁定</a:t>
            </a:r>
          </a:p>
        </p:txBody>
      </p:sp>
      <p:sp>
        <p:nvSpPr>
          <p:cNvPr id="6" name="解释">
            <a:extLst xmlns:a="http://schemas.openxmlformats.org/drawingml/2006/main">
              <a:ext uri="{FF2B5EF4-FFF2-40B4-BE49-F238E27FC236}">
                <a16:creationId xmlns:a16="http://schemas.microsoft.com/office/drawing/2014/main" id="{B278B669-17B1-41F6-A143-8D43AABC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3238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上午的行程保留；</a:t>
            </a:r>
          </a:p>
          <a:p xmlns:a="http://schemas.openxmlformats.org/drawingml/2006/main">
            <a:pPr algn="l">
              <a:defRPr sz="1800" b="0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后续户外节点替换；</a:t>
            </a:r>
          </a:p>
          <a:p xmlns:a="http://schemas.openxmlformats.org/drawingml/2006/main">
            <a:pPr algn="l">
              <a:defRPr sz="1800" b="0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路线与预算同步重算。</a:t>
            </a:r>
          </a:p>
        </p:txBody>
      </p:sp>
      <p:sp>
        <p:nvSpPr>
          <p:cNvPr id="7" name="风险标记">
            <a:extLst xmlns:a="http://schemas.openxmlformats.org/drawingml/2006/main">
              <a:ext uri="{FF2B5EF4-FFF2-40B4-BE49-F238E27FC236}">
                <a16:creationId xmlns:a16="http://schemas.microsoft.com/office/drawing/2014/main" id="{28DB9292-D4FD-4EAD-8121-C8351718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323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阵雨为可复现演示情境，</a:t>
            </a:r>
          </a:p>
          <a:p xmlns:a="http://schemas.openxmlformats.org/drawingml/2006/main">
            <a:pPr algn="l">
              <a:defRPr sz="127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不冒充当天实时天气。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c5c6c28c3b40ab"/>
          <a:stretch xmlns:a="http://schemas.openxmlformats.org/drawingml/2006/main"/>
        </p:blipFill>
        <p:spPr>
          <a:xfrm xmlns:a="http://schemas.openxmlformats.org/drawingml/2006/main">
            <a:off x="5414477" y="2000250"/>
            <a:ext cx="4982547" cy="4238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1408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页眉">
            <a:extLst xmlns:a="http://schemas.openxmlformats.org/drawingml/2006/main">
              <a:ext uri="{FF2B5EF4-FFF2-40B4-BE49-F238E27FC236}">
                <a16:creationId xmlns:a16="http://schemas.microsoft.com/office/drawing/2014/main" id="{5388B6F8-E4E8-4A10-A5E7-8013D7B1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楠溪智游  /  赛道一 · 命题二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74D6F038-8AB2-4D7F-A77D-31D39840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标题">
            <a:extLst xmlns:a="http://schemas.openxmlformats.org/drawingml/2006/main">
              <a:ext uri="{FF2B5EF4-FFF2-40B4-BE49-F238E27FC236}">
                <a16:creationId xmlns:a16="http://schemas.microsoft.com/office/drawing/2014/main" id="{8266DCCA-9BCB-44A4-8A2A-CC6EA502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可信边界清楚，才有机会真正落地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30B4D25B-31C7-4DFE-BF0F-9669D7E1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边界标题0">
            <a:extLst xmlns:a="http://schemas.openxmlformats.org/drawingml/2006/main">
              <a:ext uri="{FF2B5EF4-FFF2-40B4-BE49-F238E27FC236}">
                <a16:creationId xmlns:a16="http://schemas.microsoft.com/office/drawing/2014/main" id="{4DEF8C9C-BCE9-4F76-8C46-55157935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模型做理解</a:t>
            </a:r>
          </a:p>
        </p:txBody>
      </p:sp>
      <p:sp>
        <p:nvSpPr>
          <p:cNvPr id="6" name="分隔线">
            <a:extLst xmlns:a="http://schemas.openxmlformats.org/drawingml/2006/main">
              <a:ext uri="{FF2B5EF4-FFF2-40B4-BE49-F238E27FC236}">
                <a16:creationId xmlns:a16="http://schemas.microsoft.com/office/drawing/2014/main" id="{1B50BA48-86A3-4D2F-A740-C7DF12FA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边界正文0">
            <a:extLst xmlns:a="http://schemas.openxmlformats.org/drawingml/2006/main">
              <a:ext uri="{FF2B5EF4-FFF2-40B4-BE49-F238E27FC236}">
                <a16:creationId xmlns:a16="http://schemas.microsoft.com/office/drawing/2014/main" id="{6BC1E13B-29AC-4B70-AC01-DD14DAD0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24175"/>
            <a:ext cx="4905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不让模型直接决定预算、开放与安全</a:t>
            </a:r>
          </a:p>
        </p:txBody>
      </p:sp>
      <p:sp>
        <p:nvSpPr>
          <p:cNvPr id="8" name="边界标题1">
            <a:extLst xmlns:a="http://schemas.openxmlformats.org/drawingml/2006/main">
              <a:ext uri="{FF2B5EF4-FFF2-40B4-BE49-F238E27FC236}">
                <a16:creationId xmlns:a16="http://schemas.microsoft.com/office/drawing/2014/main" id="{3C69155F-EDE5-474A-A7E3-3BDD0D8D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工具做执行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7DE2774F-36B9-44F2-936A-EB5981D5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边界正文1">
            <a:extLst xmlns:a="http://schemas.openxmlformats.org/drawingml/2006/main">
              <a:ext uri="{FF2B5EF4-FFF2-40B4-BE49-F238E27FC236}">
                <a16:creationId xmlns:a16="http://schemas.microsoft.com/office/drawing/2014/main" id="{EB9113C1-BCE5-469B-B5A0-D1718D7D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24175"/>
            <a:ext cx="4905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天气、点位、路线、费用逐步计算</a:t>
            </a:r>
          </a:p>
        </p:txBody>
      </p:sp>
      <p:sp>
        <p:nvSpPr>
          <p:cNvPr id="11" name="边界标题2">
            <a:extLst xmlns:a="http://schemas.openxmlformats.org/drawingml/2006/main">
              <a:ext uri="{FF2B5EF4-FFF2-40B4-BE49-F238E27FC236}">
                <a16:creationId xmlns:a16="http://schemas.microsoft.com/office/drawing/2014/main" id="{2238C416-6265-4A70-B788-32BCC67C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规则做兜底</a:t>
            </a:r>
          </a:p>
        </p:txBody>
      </p:sp>
      <p:sp>
        <p:nvSpPr>
          <p:cNvPr id="12" name="分隔线">
            <a:extLst xmlns:a="http://schemas.openxmlformats.org/drawingml/2006/main">
              <a:ext uri="{FF2B5EF4-FFF2-40B4-BE49-F238E27FC236}">
                <a16:creationId xmlns:a16="http://schemas.microsoft.com/office/drawing/2014/main" id="{C1718D94-8B01-4E72-8E1C-90F86D14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边界正文2">
            <a:extLst xmlns:a="http://schemas.openxmlformats.org/drawingml/2006/main">
              <a:ext uri="{FF2B5EF4-FFF2-40B4-BE49-F238E27FC236}">
                <a16:creationId xmlns:a16="http://schemas.microsoft.com/office/drawing/2014/main" id="{39075A99-C93E-48CD-AA39-9659DFC1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14875"/>
            <a:ext cx="4905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服务异常时明确降级和风险提示</a:t>
            </a:r>
          </a:p>
        </p:txBody>
      </p:sp>
      <p:sp>
        <p:nvSpPr>
          <p:cNvPr id="14" name="边界标题3">
            <a:extLst xmlns:a="http://schemas.openxmlformats.org/drawingml/2006/main">
              <a:ext uri="{FF2B5EF4-FFF2-40B4-BE49-F238E27FC236}">
                <a16:creationId xmlns:a16="http://schemas.microsoft.com/office/drawing/2014/main" id="{9A8EF3F1-A207-4898-A12B-7E4B418E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结果可带走</a:t>
            </a:r>
          </a:p>
        </p:txBody>
      </p:sp>
      <p:sp>
        <p:nvSpPr>
          <p:cNvPr id="15" name="分隔线">
            <a:extLst xmlns:a="http://schemas.openxmlformats.org/drawingml/2006/main">
              <a:ext uri="{FF2B5EF4-FFF2-40B4-BE49-F238E27FC236}">
                <a16:creationId xmlns:a16="http://schemas.microsoft.com/office/drawing/2014/main" id="{827014EA-BEA1-4AB8-A783-8B65B718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720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边界正文3">
            <a:extLst xmlns:a="http://schemas.openxmlformats.org/drawingml/2006/main">
              <a:ext uri="{FF2B5EF4-FFF2-40B4-BE49-F238E27FC236}">
                <a16:creationId xmlns:a16="http://schemas.microsoft.com/office/drawing/2014/main" id="{35B31425-A8C9-4B5B-9BB9-5126E583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14875"/>
            <a:ext cx="4905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中文 PDF、ICS 日历、脱敏云端分享</a:t>
            </a:r>
          </a:p>
        </p:txBody>
      </p:sp>
    </p:spTree>
    <p:extLst>
      <p:ext uri="{BB962C8B-B14F-4D97-AF65-F5344CB8AC3E}">
        <p14:creationId xmlns:p14="http://schemas.microsoft.com/office/powerpoint/2010/main" val="8696754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页眉">
            <a:extLst xmlns:a="http://schemas.openxmlformats.org/drawingml/2006/main">
              <a:ext uri="{FF2B5EF4-FFF2-40B4-BE49-F238E27FC236}">
                <a16:creationId xmlns:a16="http://schemas.microsoft.com/office/drawing/2014/main" id="{480819DE-6A2B-4D42-BD09-F6F2CFA7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楠溪智游  /  赛道一 · 命题二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D0E4E786-468B-4D76-AEBA-47DE7749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标题">
            <a:extLst xmlns:a="http://schemas.openxmlformats.org/drawingml/2006/main">
              <a:ext uri="{FF2B5EF4-FFF2-40B4-BE49-F238E27FC236}">
                <a16:creationId xmlns:a16="http://schemas.microsoft.com/office/drawing/2014/main" id="{87A8D833-2D00-431C-A906-7B54D91C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当前已是可公开体验的产品，而非概念图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A718B8FC-A13E-4CE0-BD9C-23C2DD5F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数字0">
            <a:extLst xmlns:a="http://schemas.openxmlformats.org/drawingml/2006/main">
              <a:ext uri="{FF2B5EF4-FFF2-40B4-BE49-F238E27FC236}">
                <a16:creationId xmlns:a16="http://schemas.microsoft.com/office/drawing/2014/main" id="{4C2AA066-F0FC-471E-91C3-2F7DE08A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3286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75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75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分隔线">
            <a:extLst xmlns:a="http://schemas.openxmlformats.org/drawingml/2006/main">
              <a:ext uri="{FF2B5EF4-FFF2-40B4-BE49-F238E27FC236}">
                <a16:creationId xmlns:a16="http://schemas.microsoft.com/office/drawing/2014/main" id="{A460B7C0-3EC5-41AA-927F-96634B8E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76675"/>
            <a:ext cx="3286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指标0">
            <a:extLst xmlns:a="http://schemas.openxmlformats.org/drawingml/2006/main">
              <a:ext uri="{FF2B5EF4-FFF2-40B4-BE49-F238E27FC236}">
                <a16:creationId xmlns:a16="http://schemas.microsoft.com/office/drawing/2014/main" id="{84F3C86F-9F9A-465E-A4D8-1C02DA52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3286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永嘉相关点位记录</a:t>
            </a:r>
          </a:p>
        </p:txBody>
      </p:sp>
      <p:sp>
        <p:nvSpPr>
          <p:cNvPr id="8" name="数字1">
            <a:extLst xmlns:a="http://schemas.openxmlformats.org/drawingml/2006/main">
              <a:ext uri="{FF2B5EF4-FFF2-40B4-BE49-F238E27FC236}">
                <a16:creationId xmlns:a16="http://schemas.microsoft.com/office/drawing/2014/main" id="{8692DD44-F895-47CC-90C0-EDA488D1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33625"/>
            <a:ext cx="3286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75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75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ADD200D3-B323-41D9-BC2F-B0BD2B89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76675"/>
            <a:ext cx="3286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指标1">
            <a:extLst xmlns:a="http://schemas.openxmlformats.org/drawingml/2006/main">
              <a:ext uri="{FF2B5EF4-FFF2-40B4-BE49-F238E27FC236}">
                <a16:creationId xmlns:a16="http://schemas.microsoft.com/office/drawing/2014/main" id="{2CAA6424-1D63-4DFF-A9ED-73CFDDAC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3286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单元与组件测试</a:t>
            </a:r>
          </a:p>
        </p:txBody>
      </p:sp>
      <p:sp>
        <p:nvSpPr>
          <p:cNvPr id="11" name="数字2">
            <a:extLst xmlns:a="http://schemas.openxmlformats.org/drawingml/2006/main">
              <a:ext uri="{FF2B5EF4-FFF2-40B4-BE49-F238E27FC236}">
                <a16:creationId xmlns:a16="http://schemas.microsoft.com/office/drawing/2014/main" id="{9EE76AA2-89A8-4866-A0BF-8BDD3273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33625"/>
            <a:ext cx="3286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75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75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分隔线">
            <a:extLst xmlns:a="http://schemas.openxmlformats.org/drawingml/2006/main">
              <a:ext uri="{FF2B5EF4-FFF2-40B4-BE49-F238E27FC236}">
                <a16:creationId xmlns:a16="http://schemas.microsoft.com/office/drawing/2014/main" id="{73FEF59C-A917-405C-B4E6-2E5CBAEE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76675"/>
            <a:ext cx="3286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指标2">
            <a:extLst xmlns:a="http://schemas.openxmlformats.org/drawingml/2006/main">
              <a:ext uri="{FF2B5EF4-FFF2-40B4-BE49-F238E27FC236}">
                <a16:creationId xmlns:a16="http://schemas.microsoft.com/office/drawing/2014/main" id="{A1A7A8C3-7093-439E-90E1-78A4DE0D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3286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公网可体验 MVP</a:t>
            </a:r>
          </a:p>
        </p:txBody>
      </p:sp>
      <p:sp>
        <p:nvSpPr>
          <p:cNvPr id="14" name="补充">
            <a:extLst xmlns:a="http://schemas.openxmlformats.org/drawingml/2006/main">
              <a:ext uri="{FF2B5EF4-FFF2-40B4-BE49-F238E27FC236}">
                <a16:creationId xmlns:a16="http://schemas.microsoft.com/office/drawing/2014/main" id="{ADC98496-0DA8-48A4-B158-EE27ECA7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864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另有 2 条本地浏览器流程、1 条公网浏览器流程。上述为开发验证结果，不是用户数或收入。</a:t>
            </a:r>
          </a:p>
        </p:txBody>
      </p:sp>
    </p:spTree>
    <p:extLst>
      <p:ext uri="{BB962C8B-B14F-4D97-AF65-F5344CB8AC3E}">
        <p14:creationId xmlns:p14="http://schemas.microsoft.com/office/powerpoint/2010/main" val="5226514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页眉">
            <a:extLst xmlns:a="http://schemas.openxmlformats.org/drawingml/2006/main">
              <a:ext uri="{FF2B5EF4-FFF2-40B4-BE49-F238E27FC236}">
                <a16:creationId xmlns:a16="http://schemas.microsoft.com/office/drawing/2014/main" id="{D99E9A00-FF61-44B2-8F3E-9D0E3317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楠溪智游  /  赛道一 · 命题二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A7101E20-376B-4EA1-BFB7-4895F90A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标题">
            <a:extLst xmlns:a="http://schemas.openxmlformats.org/drawingml/2006/main">
              <a:ext uri="{FF2B5EF4-FFF2-40B4-BE49-F238E27FC236}">
                <a16:creationId xmlns:a16="http://schemas.microsoft.com/office/drawing/2014/main" id="{39E7AAA5-4E19-4933-A60C-4F49BF77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从游客 MVP，走向可运营的县域文旅工具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5B2A0A8A-627F-4C14-A26A-1826F177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分隔线">
            <a:extLst xmlns:a="http://schemas.openxmlformats.org/drawingml/2006/main">
              <a:ext uri="{FF2B5EF4-FFF2-40B4-BE49-F238E27FC236}">
                <a16:creationId xmlns:a16="http://schemas.microsoft.com/office/drawing/2014/main" id="{987059A0-D59B-4278-8B21-A804F370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9087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节点0">
            <a:extLst xmlns:a="http://schemas.openxmlformats.org/drawingml/2006/main">
              <a:ext uri="{FF2B5EF4-FFF2-40B4-BE49-F238E27FC236}">
                <a16:creationId xmlns:a16="http://schemas.microsoft.com/office/drawing/2014/main" id="{E76FF9C7-4A76-4082-B1D8-D3C04A10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33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时期0">
            <a:extLst xmlns:a="http://schemas.openxmlformats.org/drawingml/2006/main">
              <a:ext uri="{FF2B5EF4-FFF2-40B4-BE49-F238E27FC236}">
                <a16:creationId xmlns:a16="http://schemas.microsoft.com/office/drawing/2014/main" id="{420AFE75-C192-452A-A302-CECB410C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现在</a:t>
            </a:r>
          </a:p>
        </p:txBody>
      </p:sp>
      <p:sp>
        <p:nvSpPr>
          <p:cNvPr id="8" name="阶段0">
            <a:extLst xmlns:a="http://schemas.openxmlformats.org/drawingml/2006/main">
              <a:ext uri="{FF2B5EF4-FFF2-40B4-BE49-F238E27FC236}">
                <a16:creationId xmlns:a16="http://schemas.microsoft.com/office/drawing/2014/main" id="{BD3AC4D0-58AF-49A7-93A6-24CB7405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游客侧 MVP</a:t>
            </a:r>
          </a:p>
        </p:txBody>
      </p:sp>
      <p:sp>
        <p:nvSpPr>
          <p:cNvPr id="9" name="任务0">
            <a:extLst xmlns:a="http://schemas.openxmlformats.org/drawingml/2006/main">
              <a:ext uri="{FF2B5EF4-FFF2-40B4-BE49-F238E27FC236}">
                <a16:creationId xmlns:a16="http://schemas.microsoft.com/office/drawing/2014/main" id="{2C8DDEB8-61DE-4EB4-9328-3245FDBA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3286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在线生成、重排、导出</a:t>
            </a:r>
          </a:p>
        </p:txBody>
      </p:sp>
      <p:sp>
        <p:nvSpPr>
          <p:cNvPr id="10" name="节点1">
            <a:extLst xmlns:a="http://schemas.openxmlformats.org/drawingml/2006/main">
              <a:ext uri="{FF2B5EF4-FFF2-40B4-BE49-F238E27FC236}">
                <a16:creationId xmlns:a16="http://schemas.microsoft.com/office/drawing/2014/main" id="{D3531D42-A338-4DC8-B65A-865026FC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33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时期1">
            <a:extLst xmlns:a="http://schemas.openxmlformats.org/drawingml/2006/main">
              <a:ext uri="{FF2B5EF4-FFF2-40B4-BE49-F238E27FC236}">
                <a16:creationId xmlns:a16="http://schemas.microsoft.com/office/drawing/2014/main" id="{A7DA89F7-C0C1-409E-9714-85784964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336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0—3 个月</a:t>
            </a:r>
          </a:p>
        </p:txBody>
      </p:sp>
      <p:sp>
        <p:nvSpPr>
          <p:cNvPr id="12" name="阶段1">
            <a:extLst xmlns:a="http://schemas.openxmlformats.org/drawingml/2006/main">
              <a:ext uri="{FF2B5EF4-FFF2-40B4-BE49-F238E27FC236}">
                <a16:creationId xmlns:a16="http://schemas.microsoft.com/office/drawing/2014/main" id="{21F4412A-8AF9-49A1-B2FF-E1855577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真实游客试点</a:t>
            </a:r>
          </a:p>
        </p:txBody>
      </p:sp>
      <p:sp>
        <p:nvSpPr>
          <p:cNvPr id="13" name="任务1">
            <a:extLst xmlns:a="http://schemas.openxmlformats.org/drawingml/2006/main">
              <a:ext uri="{FF2B5EF4-FFF2-40B4-BE49-F238E27FC236}">
                <a16:creationId xmlns:a16="http://schemas.microsoft.com/office/drawing/2014/main" id="{914B2C76-0E7B-4184-941A-588D4778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33875"/>
            <a:ext cx="3286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核查可执行性与反馈</a:t>
            </a:r>
          </a:p>
        </p:txBody>
      </p:sp>
      <p:sp>
        <p:nvSpPr>
          <p:cNvPr id="14" name="节点2">
            <a:extLst xmlns:a="http://schemas.openxmlformats.org/drawingml/2006/main">
              <a:ext uri="{FF2B5EF4-FFF2-40B4-BE49-F238E27FC236}">
                <a16:creationId xmlns:a16="http://schemas.microsoft.com/office/drawing/2014/main" id="{F794F8CA-B114-430D-8F30-0E49DAA5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33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时期2">
            <a:extLst xmlns:a="http://schemas.openxmlformats.org/drawingml/2006/main">
              <a:ext uri="{FF2B5EF4-FFF2-40B4-BE49-F238E27FC236}">
                <a16:creationId xmlns:a16="http://schemas.microsoft.com/office/drawing/2014/main" id="{727F4F75-5D6E-4738-8CF8-68188834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336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3—12 个月</a:t>
            </a:r>
          </a:p>
        </p:txBody>
      </p:sp>
      <p:sp>
        <p:nvSpPr>
          <p:cNvPr id="16" name="阶段2">
            <a:extLst xmlns:a="http://schemas.openxmlformats.org/drawingml/2006/main">
              <a:ext uri="{FF2B5EF4-FFF2-40B4-BE49-F238E27FC236}">
                <a16:creationId xmlns:a16="http://schemas.microsoft.com/office/drawing/2014/main" id="{4EF724FC-7A83-4E20-80FF-267F5C73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671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运营侧产品</a:t>
            </a:r>
          </a:p>
        </p:txBody>
      </p:sp>
      <p:sp>
        <p:nvSpPr>
          <p:cNvPr id="17" name="任务2">
            <a:extLst xmlns:a="http://schemas.openxmlformats.org/drawingml/2006/main">
              <a:ext uri="{FF2B5EF4-FFF2-40B4-BE49-F238E27FC236}">
                <a16:creationId xmlns:a16="http://schemas.microsoft.com/office/drawing/2014/main" id="{A5332ACF-C461-45E1-B3B1-6DA8CCB7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33875"/>
            <a:ext cx="3286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授权内容维护、路线配置</a:t>
            </a:r>
          </a:p>
        </p:txBody>
      </p:sp>
      <p:sp>
        <p:nvSpPr>
          <p:cNvPr id="18" name="商业口径">
            <a:extLst xmlns:a="http://schemas.openxmlformats.org/drawingml/2006/main">
              <a:ext uri="{FF2B5EF4-FFF2-40B4-BE49-F238E27FC236}">
                <a16:creationId xmlns:a16="http://schemas.microsoft.com/office/drawing/2014/main" id="{A21F6AA6-B25D-41DC-9047-F67198DD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景区/乡村运营方 SaaS 为探索方向，当前暂无签约客户与收入。</a:t>
            </a:r>
          </a:p>
        </p:txBody>
      </p:sp>
    </p:spTree>
    <p:extLst>
      <p:ext uri="{BB962C8B-B14F-4D97-AF65-F5344CB8AC3E}">
        <p14:creationId xmlns:p14="http://schemas.microsoft.com/office/powerpoint/2010/main" val="6635015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收束">
            <a:extLst xmlns:a="http://schemas.openxmlformats.org/drawingml/2006/main">
              <a:ext uri="{FF2B5EF4-FFF2-40B4-BE49-F238E27FC236}">
                <a16:creationId xmlns:a16="http://schemas.microsoft.com/office/drawing/2014/main" id="{B8A5ACCD-5D7E-4EDE-98D8-1DC9DED1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0858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让楠溪江行程，真正跟得上变化。</a:t>
            </a:r>
          </a:p>
        </p:txBody>
      </p:sp>
      <p:sp>
        <p:nvSpPr>
          <p:cNvPr id="2" name="分隔线">
            <a:extLst xmlns:a="http://schemas.openxmlformats.org/drawingml/2006/main">
              <a:ext uri="{FF2B5EF4-FFF2-40B4-BE49-F238E27FC236}">
                <a16:creationId xmlns:a16="http://schemas.microsoft.com/office/drawing/2014/main" id="{B4198BFE-D029-445D-8EAE-F0EA2DF7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呼吁">
            <a:extLst xmlns:a="http://schemas.openxmlformats.org/drawingml/2006/main">
              <a:ext uri="{FF2B5EF4-FFF2-40B4-BE49-F238E27FC236}">
                <a16:creationId xmlns:a16="http://schemas.microsoft.com/office/drawing/2014/main" id="{AA2250C6-EFDB-41DD-99EC-8FBEB15F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052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寻找真实游客与文旅场景试点，验证行程可执行性。</a:t>
            </a:r>
          </a:p>
        </p:txBody>
      </p:sp>
      <p:sp>
        <p:nvSpPr>
          <p:cNvPr id="4" name="网址">
            <a:extLst xmlns:a="http://schemas.openxmlformats.org/drawingml/2006/main">
              <a:ext uri="{FF2B5EF4-FFF2-40B4-BE49-F238E27FC236}">
                <a16:creationId xmlns:a16="http://schemas.microsoft.com/office/drawing/2014/main" id="{3D7A9081-15C5-40BB-A7B7-075FDBEE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naxi-travel-ai.netlify.app</a:t>
            </a:r>
          </a:p>
        </p:txBody>
      </p:sp>
      <p:sp>
        <p:nvSpPr>
          <p:cNvPr id="5" name="赛道">
            <a:extLst xmlns:a="http://schemas.openxmlformats.org/drawingml/2006/main">
              <a:ext uri="{FF2B5EF4-FFF2-40B4-BE49-F238E27FC236}">
                <a16:creationId xmlns:a16="http://schemas.microsoft.com/office/drawing/2014/main" id="{51BBAADC-AE79-46A8-8BC4-26A2E459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赛道一 · 命题二 · 楠溪智游</a:t>
            </a:r>
          </a:p>
        </p:txBody>
      </p:sp>
    </p:spTree>
    <p:extLst>
      <p:ext uri="{BB962C8B-B14F-4D97-AF65-F5344CB8AC3E}">
        <p14:creationId xmlns:p14="http://schemas.microsoft.com/office/powerpoint/2010/main" val="20267196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2026-09-13T00:00:39.7050000Z</dcterms:created>
  <dcterms:modified xsi:type="dcterms:W3CDTF">2026-09-13T00:00:39.7050000Z</dcterms:modified>
</coreProperties>
</file>